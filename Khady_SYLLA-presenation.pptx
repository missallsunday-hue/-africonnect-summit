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5DCC4-736E-4642-A592-C255FD3E8882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C7DAF-DED2-4BD0-A013-6C6D719E13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297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01B9DA-2C8E-924B-ED8F-A6CAEBF53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A5AA344-B68B-11FB-8EE4-F0298DD1C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F295B8-A7E8-338C-69CA-FA276F88D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EEDAA7-C96A-9623-5D50-46237109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BB714D-3320-3B2B-1B0B-7097C7D6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82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B89BD1-72F6-3625-0FD1-3805F0EF4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7CD40D-78B3-FC32-D45C-2132B6CAA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6103D-01F2-D033-D798-93E87CE0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73CEED-CEC9-8E11-2D69-85DE0EE5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DD584E-498A-1D34-E876-AE465855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738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2D45D-0091-EFB9-F0A2-88BB1B7E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99B32A-E1F7-71EC-2B08-7E987231D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DEE86E-79CA-A5E3-AD0C-77ABEF71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1D39B9-FEEE-A2B3-4853-4506F165A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75C07D-5274-A3C5-5F06-765694E5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1663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F2EF9-A57E-3305-90EE-577CAE8F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BBE86E-4221-55BC-0E9D-BF5988BEE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FF7B9E-4E1E-EB67-B271-083054C98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6F4B39-2B8A-D11A-D893-FA4607E0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834AC0-E944-5F8A-6D8B-F47B60C4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965511-7A9E-62E5-15D1-EE83C4B8E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92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7C4A99-6801-0958-A554-CF175E18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5EE269-7B2B-11F5-41D9-20079985C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7B6191-C09F-7204-90D7-715A74C1E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B044D7-309F-0087-AD44-934E3B293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49D3EA8-9D17-760C-56CC-DB8147BF1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4C6070B-4F10-98F1-6AA7-5A7900B9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6BFD9B-A560-EFB9-E3D0-7CF092343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516B66-E7EA-2FE4-1D02-EFF8412F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61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17414-4C2E-23C5-B52C-CFDDCCD2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4C888D0-D87B-588A-A32F-BB8F6C5E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0B1D6A-3CAB-6584-6F16-50B897AC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26A1B1-6AE3-0456-D837-06A799BE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64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1E6874-28EE-7272-D711-4B1569E3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E91C62D-6D0C-6EA4-C146-16962A49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63A6DD-853D-0629-7761-5BC2BC13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485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100D5F-25BA-7422-8E96-BC1C8A61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711723-EC7E-7D89-7702-B78570F7F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8BA598-BEBE-4681-EF48-379899E59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BFBAF3-741B-D3B6-C1DD-E74299137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2D6528-9C53-11ED-0780-0D490C8A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F181E2-AC5F-F376-1DFD-344E4EA8E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86D364-CEFE-356D-4023-B13AADC0F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8F54D42-19B7-0AE8-1EB7-7B21FA386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D0B7C1-660F-9332-9B8D-C1F2955DB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159EC6-7725-49CB-DC06-0C90060A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07AC46-4682-FEF5-E1D0-C0E275129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7B070E-A9F3-3B05-AA73-D5EEAAC2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26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0A2C4B-E328-76BA-48FD-CB025A19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D8E9CE7-1C2D-4082-38E5-A0C1FE7C6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72C66C-49FB-B87D-A1DF-19E3B567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A0BDC4-FF4A-A852-F46C-75280A83A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73616-E221-35FC-0A65-EB077901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08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2BB33BD-9200-1000-BDE7-9718E0F65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5D4E4B-5C88-FEEE-ECC5-919441F89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BFC6F3-E957-450E-0A29-1FEBC431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54B967-838B-581B-3665-45B5D431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A92DA-FC21-C7D8-F749-009A482B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843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D92F438-CD82-B937-6AB8-20E5A3F8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E91C75-145D-444C-E8ED-0C4DA5900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D0275D-8125-B5C6-5D92-FCD513444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939ED-95E6-47B1-BF88-CDBB2EE2ADD8}" type="datetimeFigureOut">
              <a:rPr lang="fr-FR" smtClean="0"/>
              <a:t>19/07/2026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CFB2C3-2B1E-952A-5C2F-A8F64C806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0CE285-7023-B941-C0C0-558ECEA9B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43773-58BB-41C4-985C-7CD84019DE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65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9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B56655-FB09-32D3-6E5F-BE6578E0F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0628" y="988966"/>
            <a:ext cx="8526780" cy="217265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SITE VITRINE MULTIPAGE</a:t>
            </a:r>
            <a:endParaRPr lang="fr-FR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F05DCD-44DE-D215-FD3E-14E2B271E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50" y="3657600"/>
            <a:ext cx="7635240" cy="165735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HTML - CSS3 – BOOSTRAP 5 – JAVASCRIPT VANILLA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DA331628-EC78-7987-2C23-C9917EE18637}"/>
              </a:ext>
            </a:extLst>
          </p:cNvPr>
          <p:cNvSpPr/>
          <p:nvPr/>
        </p:nvSpPr>
        <p:spPr>
          <a:xfrm>
            <a:off x="9224010" y="-635620"/>
            <a:ext cx="3744858" cy="343597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A051987-AE7B-C486-3344-49BF1F067D9E}"/>
              </a:ext>
            </a:extLst>
          </p:cNvPr>
          <p:cNvSpPr/>
          <p:nvPr/>
        </p:nvSpPr>
        <p:spPr>
          <a:xfrm>
            <a:off x="10350347" y="5314950"/>
            <a:ext cx="2230916" cy="15430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9D4E640-4642-6A28-05A3-8DC55D9A4777}"/>
              </a:ext>
            </a:extLst>
          </p:cNvPr>
          <p:cNvSpPr txBox="1"/>
          <p:nvPr/>
        </p:nvSpPr>
        <p:spPr>
          <a:xfrm>
            <a:off x="749919" y="1543050"/>
            <a:ext cx="30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AfriConnect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Summit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2026</a:t>
            </a:r>
            <a:endParaRPr lang="fr-FR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037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87C2CA-925A-004E-3EF9-690C4DDF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SOMMAIRE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B8DC5C-C8B9-3026-6634-7EF19FCDA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Objectifs</a:t>
            </a:r>
            <a:r>
              <a:rPr lang="en-US" dirty="0"/>
              <a:t> du </a:t>
            </a:r>
            <a:r>
              <a:rPr lang="en-US" dirty="0" err="1"/>
              <a:t>projet</a:t>
            </a:r>
            <a:r>
              <a:rPr lang="en-US" dirty="0"/>
              <a:t>                                          </a:t>
            </a:r>
            <a:r>
              <a:rPr lang="en-US" dirty="0" err="1"/>
              <a:t>Fonctionnalites</a:t>
            </a:r>
            <a:r>
              <a:rPr lang="en-US" dirty="0"/>
              <a:t> </a:t>
            </a:r>
            <a:r>
              <a:rPr lang="en-US" dirty="0" err="1"/>
              <a:t>cles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Technologies </a:t>
            </a:r>
            <a:r>
              <a:rPr lang="en-US" dirty="0" err="1"/>
              <a:t>utilisees</a:t>
            </a:r>
            <a:r>
              <a:rPr lang="en-US" dirty="0"/>
              <a:t>                                     </a:t>
            </a:r>
            <a:r>
              <a:rPr lang="en-US" dirty="0" err="1"/>
              <a:t>Difficultes</a:t>
            </a:r>
            <a:r>
              <a:rPr lang="en-US" dirty="0"/>
              <a:t> &amp; solutions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Structure du site                                               Conclusion &amp; perspectives</a:t>
            </a:r>
            <a:endParaRPr lang="fr-FR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B659B9F2-A506-769D-2231-8476E9744DBF}"/>
              </a:ext>
            </a:extLst>
          </p:cNvPr>
          <p:cNvSpPr/>
          <p:nvPr/>
        </p:nvSpPr>
        <p:spPr>
          <a:xfrm>
            <a:off x="6585857" y="1942250"/>
            <a:ext cx="348343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657FEA1-B303-FC47-667D-31897AD6C649}"/>
              </a:ext>
            </a:extLst>
          </p:cNvPr>
          <p:cNvSpPr/>
          <p:nvPr/>
        </p:nvSpPr>
        <p:spPr>
          <a:xfrm>
            <a:off x="6585858" y="3429000"/>
            <a:ext cx="348343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76AAC0F-5708-6E20-AD1C-D09789CCE8C3}"/>
              </a:ext>
            </a:extLst>
          </p:cNvPr>
          <p:cNvSpPr/>
          <p:nvPr/>
        </p:nvSpPr>
        <p:spPr>
          <a:xfrm>
            <a:off x="6640286" y="4915750"/>
            <a:ext cx="348343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51240E5-FEB3-6742-1534-891475DEA995}"/>
              </a:ext>
            </a:extLst>
          </p:cNvPr>
          <p:cNvSpPr/>
          <p:nvPr/>
        </p:nvSpPr>
        <p:spPr>
          <a:xfrm>
            <a:off x="489857" y="3429000"/>
            <a:ext cx="348343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024E6D4-CB67-F77F-B187-4B2B7D661AED}"/>
              </a:ext>
            </a:extLst>
          </p:cNvPr>
          <p:cNvSpPr/>
          <p:nvPr/>
        </p:nvSpPr>
        <p:spPr>
          <a:xfrm>
            <a:off x="468084" y="1942250"/>
            <a:ext cx="348343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A66E067-B416-88CD-0D1E-ADFB06B9C375}"/>
              </a:ext>
            </a:extLst>
          </p:cNvPr>
          <p:cNvSpPr/>
          <p:nvPr/>
        </p:nvSpPr>
        <p:spPr>
          <a:xfrm>
            <a:off x="489856" y="4915750"/>
            <a:ext cx="348343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2E599C0-4337-FFE3-D417-2331306B9781}"/>
              </a:ext>
            </a:extLst>
          </p:cNvPr>
          <p:cNvSpPr txBox="1"/>
          <p:nvPr/>
        </p:nvSpPr>
        <p:spPr>
          <a:xfrm>
            <a:off x="489856" y="1890156"/>
            <a:ext cx="34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81EC076-B3A8-7BA4-9D08-0C085137A2B4}"/>
              </a:ext>
            </a:extLst>
          </p:cNvPr>
          <p:cNvSpPr txBox="1"/>
          <p:nvPr/>
        </p:nvSpPr>
        <p:spPr>
          <a:xfrm>
            <a:off x="489856" y="3416562"/>
            <a:ext cx="696687" cy="381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04C8EC2-A0C5-9D70-0E0B-CA17544240A1}"/>
              </a:ext>
            </a:extLst>
          </p:cNvPr>
          <p:cNvSpPr txBox="1"/>
          <p:nvPr/>
        </p:nvSpPr>
        <p:spPr>
          <a:xfrm>
            <a:off x="489856" y="4897788"/>
            <a:ext cx="500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7117C93-342C-2B6F-50D6-4C1CB394D83B}"/>
              </a:ext>
            </a:extLst>
          </p:cNvPr>
          <p:cNvSpPr txBox="1"/>
          <p:nvPr/>
        </p:nvSpPr>
        <p:spPr>
          <a:xfrm>
            <a:off x="6640286" y="1890156"/>
            <a:ext cx="29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27B6B36-6FF1-DED8-A552-93637B48F6ED}"/>
              </a:ext>
            </a:extLst>
          </p:cNvPr>
          <p:cNvSpPr txBox="1"/>
          <p:nvPr/>
        </p:nvSpPr>
        <p:spPr>
          <a:xfrm>
            <a:off x="6640286" y="3416561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87CA011-0E59-E0D8-3F95-5E5D6811DC05}"/>
              </a:ext>
            </a:extLst>
          </p:cNvPr>
          <p:cNvSpPr txBox="1"/>
          <p:nvPr/>
        </p:nvSpPr>
        <p:spPr>
          <a:xfrm>
            <a:off x="6640286" y="4897788"/>
            <a:ext cx="34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969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D84FD8-2257-8749-6B3F-FAEB4FFCB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6" y="2060020"/>
            <a:ext cx="4093028" cy="465296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Une site vitrine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complet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Quatres page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liees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une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navigation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Complet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: ACCEUIL, INTERVENANT, PROGRAMME, CONTACT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4E52244-F9FE-0D20-75C8-C3D7154C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Objectifs</a:t>
            </a:r>
            <a:r>
              <a:rPr lang="en-US" b="1" dirty="0"/>
              <a:t> du project</a:t>
            </a:r>
            <a:endParaRPr lang="fr-FR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6DEE73-83CA-9216-1AA4-717A9733F958}"/>
              </a:ext>
            </a:extLst>
          </p:cNvPr>
          <p:cNvSpPr txBox="1"/>
          <p:nvPr/>
        </p:nvSpPr>
        <p:spPr>
          <a:xfrm>
            <a:off x="5061857" y="1690688"/>
            <a:ext cx="317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10CE5D4-49AB-4B0C-1C3E-69441F82EF73}"/>
              </a:ext>
            </a:extLst>
          </p:cNvPr>
          <p:cNvSpPr txBox="1"/>
          <p:nvPr/>
        </p:nvSpPr>
        <p:spPr>
          <a:xfrm>
            <a:off x="4920343" y="1346394"/>
            <a:ext cx="3548743" cy="45243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chemeClr val="bg1"/>
                </a:solidFill>
              </a:rPr>
              <a:t>Une experience interactive</a:t>
            </a:r>
            <a:endParaRPr lang="fr-FR" sz="2400" dirty="0">
              <a:solidFill>
                <a:schemeClr val="bg1"/>
              </a:solidFill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Compte a rebours, animations au scroll filtre dynamique et validation au scroll.</a:t>
            </a:r>
          </a:p>
          <a:p>
            <a:endParaRPr lang="fr-FR" dirty="0">
              <a:solidFill>
                <a:schemeClr val="bg2">
                  <a:lumMod val="50000"/>
                </a:schemeClr>
              </a:solidFill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C3BE613-8157-F113-D059-77B6AEF8C118}"/>
              </a:ext>
            </a:extLst>
          </p:cNvPr>
          <p:cNvSpPr txBox="1"/>
          <p:nvPr/>
        </p:nvSpPr>
        <p:spPr>
          <a:xfrm>
            <a:off x="8795658" y="674915"/>
            <a:ext cx="3124199" cy="44319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Un code propre et </a:t>
            </a:r>
            <a:r>
              <a:rPr lang="en-US" sz="2400" dirty="0" err="1">
                <a:solidFill>
                  <a:schemeClr val="bg1"/>
                </a:solidFill>
              </a:rPr>
              <a:t>documente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 </a:t>
            </a:r>
            <a:r>
              <a:rPr lang="fr-F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semantique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CSS </a:t>
            </a:r>
            <a:r>
              <a:rPr lang="fr-F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reutilisables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fonction JS </a:t>
            </a:r>
            <a:r>
              <a:rPr lang="fr-F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separer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bien commenter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50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C2E64-8B76-2047-9747-C9812DFE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8193E2-F599-27EA-96A9-C17D10CF3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6" y="2060020"/>
            <a:ext cx="2830284" cy="3693318"/>
          </a:xfrm>
          <a:solidFill>
            <a:schemeClr val="tx2">
              <a:lumMod val="5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</a:t>
            </a:r>
            <a:r>
              <a:rPr lang="en-US" sz="1800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sémantique</a:t>
            </a:r>
            <a:r>
              <a:rPr lang="en-US" sz="18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</a:t>
            </a:r>
            <a:r>
              <a:rPr lang="en-US" sz="18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(alt, aria-label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B207103-E809-DDFF-571C-477FA0CD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Technologie </a:t>
            </a:r>
            <a:r>
              <a:rPr lang="en-US" b="1" dirty="0" err="1"/>
              <a:t>utilisees</a:t>
            </a:r>
            <a:endParaRPr lang="fr-FR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578689A-BDF0-BDFF-EF7A-114AE9647DC4}"/>
              </a:ext>
            </a:extLst>
          </p:cNvPr>
          <p:cNvSpPr txBox="1"/>
          <p:nvPr/>
        </p:nvSpPr>
        <p:spPr>
          <a:xfrm>
            <a:off x="5061857" y="1690688"/>
            <a:ext cx="317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A7AEDB-4815-38CF-7770-8F32352A2612}"/>
              </a:ext>
            </a:extLst>
          </p:cNvPr>
          <p:cNvSpPr txBox="1"/>
          <p:nvPr/>
        </p:nvSpPr>
        <p:spPr>
          <a:xfrm>
            <a:off x="3505201" y="2060019"/>
            <a:ext cx="2710541" cy="3693319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 + Bootstrap 5</a:t>
            </a:r>
            <a:endParaRPr lang="en-US" sz="1600" dirty="0"/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responsive, variables CSS, animations</a:t>
            </a:r>
            <a:endParaRPr lang="en-US" sz="1600" dirty="0"/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BA23E17-4CEF-F8A6-F3AA-09174F069DF9}"/>
              </a:ext>
            </a:extLst>
          </p:cNvPr>
          <p:cNvSpPr txBox="1"/>
          <p:nvPr/>
        </p:nvSpPr>
        <p:spPr>
          <a:xfrm>
            <a:off x="6444343" y="2060019"/>
            <a:ext cx="2710541" cy="3847207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vanilla</a:t>
            </a:r>
            <a:endParaRPr lang="en-US" sz="2400" dirty="0"/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</a:t>
            </a:r>
            <a:r>
              <a:rPr lang="en-US" sz="1400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</a:t>
            </a:r>
            <a:r>
              <a:rPr lang="en-US" sz="14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400" dirty="0"/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58D231D-500F-614D-626F-A61F6D480F4E}"/>
              </a:ext>
            </a:extLst>
          </p:cNvPr>
          <p:cNvSpPr txBox="1"/>
          <p:nvPr/>
        </p:nvSpPr>
        <p:spPr>
          <a:xfrm flipH="1">
            <a:off x="9383484" y="2060019"/>
            <a:ext cx="2623458" cy="387798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>
            <a:spAutoFit/>
          </a:bodyPr>
          <a:lstStyle/>
          <a:p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Fonts + Icons</a:t>
            </a:r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r>
              <a:rPr lang="en-US" sz="16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600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pictogrammes</a:t>
            </a:r>
            <a:r>
              <a:rPr lang="en-US" sz="16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cohérents</a:t>
            </a:r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6" name="Arc partiel 5">
            <a:extLst>
              <a:ext uri="{FF2B5EF4-FFF2-40B4-BE49-F238E27FC236}">
                <a16:creationId xmlns:a16="http://schemas.microsoft.com/office/drawing/2014/main" id="{3535DAFB-F771-5FD2-9B7B-AD30003F3BD8}"/>
              </a:ext>
            </a:extLst>
          </p:cNvPr>
          <p:cNvSpPr/>
          <p:nvPr/>
        </p:nvSpPr>
        <p:spPr>
          <a:xfrm>
            <a:off x="653143" y="2383971"/>
            <a:ext cx="522514" cy="500743"/>
          </a:xfrm>
          <a:prstGeom prst="pi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Arc partiel 6">
            <a:extLst>
              <a:ext uri="{FF2B5EF4-FFF2-40B4-BE49-F238E27FC236}">
                <a16:creationId xmlns:a16="http://schemas.microsoft.com/office/drawing/2014/main" id="{FBB7BB82-A69C-73A1-6301-FFF349DBB6EA}"/>
              </a:ext>
            </a:extLst>
          </p:cNvPr>
          <p:cNvSpPr/>
          <p:nvPr/>
        </p:nvSpPr>
        <p:spPr>
          <a:xfrm>
            <a:off x="3755570" y="2324099"/>
            <a:ext cx="587829" cy="560615"/>
          </a:xfrm>
          <a:prstGeom prst="pi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Arc partiel 7">
            <a:extLst>
              <a:ext uri="{FF2B5EF4-FFF2-40B4-BE49-F238E27FC236}">
                <a16:creationId xmlns:a16="http://schemas.microsoft.com/office/drawing/2014/main" id="{4223CD7C-F6EE-D166-C587-8F510D2FC024}"/>
              </a:ext>
            </a:extLst>
          </p:cNvPr>
          <p:cNvSpPr/>
          <p:nvPr/>
        </p:nvSpPr>
        <p:spPr>
          <a:xfrm>
            <a:off x="6792685" y="2324099"/>
            <a:ext cx="478971" cy="500743"/>
          </a:xfrm>
          <a:prstGeom prst="pi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Arc partiel 8">
            <a:extLst>
              <a:ext uri="{FF2B5EF4-FFF2-40B4-BE49-F238E27FC236}">
                <a16:creationId xmlns:a16="http://schemas.microsoft.com/office/drawing/2014/main" id="{37EC58DE-58C2-1824-3FE3-C844C63515D2}"/>
              </a:ext>
            </a:extLst>
          </p:cNvPr>
          <p:cNvSpPr/>
          <p:nvPr/>
        </p:nvSpPr>
        <p:spPr>
          <a:xfrm>
            <a:off x="9644743" y="2324099"/>
            <a:ext cx="533400" cy="500743"/>
          </a:xfrm>
          <a:prstGeom prst="pi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54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66AD3-E438-2206-B669-B5BB295A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du sites</a:t>
            </a: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55EFBF-A015-AF7A-46CF-169F2F056E9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21920" y="2194558"/>
            <a:ext cx="11719560" cy="4151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                                     </a:t>
            </a:r>
            <a:endParaRPr lang="fr-FR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F51C2CB-B94B-2FAE-71B8-051A8F2A7436}"/>
              </a:ext>
            </a:extLst>
          </p:cNvPr>
          <p:cNvSpPr/>
          <p:nvPr/>
        </p:nvSpPr>
        <p:spPr>
          <a:xfrm>
            <a:off x="822960" y="2194558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DFDA"/>
            </a:solidFill>
            <a:prstDash val="solid"/>
          </a:ln>
          <a:effectLst>
            <a:outerShdw blurRad="76200" dist="25400" dir="5400000" algn="bl" rotWithShape="0">
              <a:srgbClr val="1C1C2E">
                <a:alpha val="10000"/>
              </a:srgbClr>
            </a:outerShdw>
          </a:effectLst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A558B1C-08FD-6B9A-7E5E-62EEF37BE407}"/>
              </a:ext>
            </a:extLst>
          </p:cNvPr>
          <p:cNvSpPr/>
          <p:nvPr/>
        </p:nvSpPr>
        <p:spPr>
          <a:xfrm>
            <a:off x="822960" y="21945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E05B2B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C9BE48B-C9A9-2994-2F6F-1F1D62C2F5FA}"/>
              </a:ext>
            </a:extLst>
          </p:cNvPr>
          <p:cNvSpPr/>
          <p:nvPr/>
        </p:nvSpPr>
        <p:spPr>
          <a:xfrm>
            <a:off x="822960" y="2560320"/>
            <a:ext cx="2468880" cy="182880"/>
          </a:xfrm>
          <a:prstGeom prst="rect">
            <a:avLst/>
          </a:prstGeom>
          <a:solidFill>
            <a:srgbClr val="E05B2B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6975CCD-32DF-4B8E-88E0-130958912FB4}"/>
              </a:ext>
            </a:extLst>
          </p:cNvPr>
          <p:cNvSpPr/>
          <p:nvPr/>
        </p:nvSpPr>
        <p:spPr>
          <a:xfrm>
            <a:off x="82296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Accueil</a:t>
            </a: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A626C87-7871-0FC7-19B3-A4CDF4CF99BE}"/>
              </a:ext>
            </a:extLst>
          </p:cNvPr>
          <p:cNvSpPr/>
          <p:nvPr/>
        </p:nvSpPr>
        <p:spPr>
          <a:xfrm>
            <a:off x="1051560" y="29718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compte à rebours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</a:t>
            </a:r>
            <a:endParaRPr lang="en-US" sz="11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0DEEF8DB-A526-4169-B1B4-1A6C6551C8C5}"/>
              </a:ext>
            </a:extLst>
          </p:cNvPr>
          <p:cNvSpPr/>
          <p:nvPr/>
        </p:nvSpPr>
        <p:spPr>
          <a:xfrm>
            <a:off x="3291840" y="3840480"/>
            <a:ext cx="457200" cy="0"/>
          </a:xfrm>
          <a:prstGeom prst="line">
            <a:avLst/>
          </a:prstGeom>
          <a:noFill/>
          <a:ln w="19050">
            <a:solidFill>
              <a:srgbClr val="C9C4BC"/>
            </a:solidFill>
            <a:prstDash val="dash"/>
          </a:ln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19F448A7-67C3-1937-8866-AF9B3948620C}"/>
              </a:ext>
            </a:extLst>
          </p:cNvPr>
          <p:cNvSpPr/>
          <p:nvPr/>
        </p:nvSpPr>
        <p:spPr>
          <a:xfrm>
            <a:off x="3749040" y="21945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DFDA"/>
            </a:solidFill>
            <a:prstDash val="solid"/>
          </a:ln>
          <a:effectLst>
            <a:outerShdw blurRad="76200" dist="25400" dir="5400000" algn="bl" rotWithShape="0">
              <a:srgbClr val="1C1C2E">
                <a:alpha val="10000"/>
              </a:srgbClr>
            </a:outerShdw>
          </a:effectLst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F2B7609-F112-F030-0098-63F48AC939EC}"/>
              </a:ext>
            </a:extLst>
          </p:cNvPr>
          <p:cNvSpPr/>
          <p:nvPr/>
        </p:nvSpPr>
        <p:spPr>
          <a:xfrm>
            <a:off x="3749040" y="21945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E05B2B"/>
          </a:solidFill>
          <a:ln/>
        </p:spPr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5F812951-6265-2BB5-C094-3248EF7D79E2}"/>
              </a:ext>
            </a:extLst>
          </p:cNvPr>
          <p:cNvSpPr/>
          <p:nvPr/>
        </p:nvSpPr>
        <p:spPr>
          <a:xfrm>
            <a:off x="3749040" y="2560320"/>
            <a:ext cx="2468880" cy="182880"/>
          </a:xfrm>
          <a:prstGeom prst="rect">
            <a:avLst/>
          </a:prstGeom>
          <a:solidFill>
            <a:srgbClr val="E05B2B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0B66191-5D97-01CD-8C79-DA11A4C285F5}"/>
              </a:ext>
            </a:extLst>
          </p:cNvPr>
          <p:cNvSpPr/>
          <p:nvPr/>
        </p:nvSpPr>
        <p:spPr>
          <a:xfrm>
            <a:off x="374904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</a:t>
            </a:r>
            <a:endParaRPr lang="en-US" sz="16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E07D843-2868-0AD7-3C3E-913FECBEFBA9}"/>
              </a:ext>
            </a:extLst>
          </p:cNvPr>
          <p:cNvSpPr/>
          <p:nvPr/>
        </p:nvSpPr>
        <p:spPr>
          <a:xfrm>
            <a:off x="3977640" y="29718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3 jours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sessions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Thématiques</a:t>
            </a:r>
            <a:endParaRPr lang="en-US" sz="11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FBF294B8-4185-77BA-5DCF-22EA460913F8}"/>
              </a:ext>
            </a:extLst>
          </p:cNvPr>
          <p:cNvSpPr/>
          <p:nvPr/>
        </p:nvSpPr>
        <p:spPr>
          <a:xfrm>
            <a:off x="6217920" y="3840480"/>
            <a:ext cx="457200" cy="0"/>
          </a:xfrm>
          <a:prstGeom prst="line">
            <a:avLst/>
          </a:prstGeom>
          <a:noFill/>
          <a:ln w="19050">
            <a:solidFill>
              <a:srgbClr val="C9C4BC"/>
            </a:solidFill>
            <a:prstDash val="dash"/>
          </a:ln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93ADAD21-03FF-688C-2808-F800A2982811}"/>
              </a:ext>
            </a:extLst>
          </p:cNvPr>
          <p:cNvSpPr/>
          <p:nvPr/>
        </p:nvSpPr>
        <p:spPr>
          <a:xfrm>
            <a:off x="6681651" y="21945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DFDA"/>
            </a:solidFill>
            <a:prstDash val="solid"/>
          </a:ln>
          <a:effectLst>
            <a:outerShdw blurRad="76200" dist="25400" dir="5400000" algn="bl" rotWithShape="0">
              <a:srgbClr val="1C1C2E">
                <a:alpha val="10000"/>
              </a:srgbClr>
            </a:outerShdw>
          </a:effectLst>
        </p:spPr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2ADE8469-1679-1F81-4ACD-162986C445F7}"/>
              </a:ext>
            </a:extLst>
          </p:cNvPr>
          <p:cNvSpPr/>
          <p:nvPr/>
        </p:nvSpPr>
        <p:spPr>
          <a:xfrm>
            <a:off x="6675120" y="21945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E05B2B"/>
          </a:solidFill>
          <a:ln/>
        </p:spPr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2CDC2EF6-1317-02C1-E336-3FEE84ADB069}"/>
              </a:ext>
            </a:extLst>
          </p:cNvPr>
          <p:cNvSpPr/>
          <p:nvPr/>
        </p:nvSpPr>
        <p:spPr>
          <a:xfrm>
            <a:off x="6675120" y="2560320"/>
            <a:ext cx="2468880" cy="182880"/>
          </a:xfrm>
          <a:prstGeom prst="rect">
            <a:avLst/>
          </a:prstGeom>
          <a:solidFill>
            <a:srgbClr val="E05B2B"/>
          </a:solidFill>
          <a:ln/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8F4275AD-E81E-DABA-7FD8-325377AC3D8C}"/>
              </a:ext>
            </a:extLst>
          </p:cNvPr>
          <p:cNvSpPr/>
          <p:nvPr/>
        </p:nvSpPr>
        <p:spPr>
          <a:xfrm>
            <a:off x="667512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Intervenants</a:t>
            </a:r>
            <a:endParaRPr lang="en-US" sz="16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50436BBF-1CE5-2D93-2BC2-046A0BB43056}"/>
              </a:ext>
            </a:extLst>
          </p:cNvPr>
          <p:cNvSpPr/>
          <p:nvPr/>
        </p:nvSpPr>
        <p:spPr>
          <a:xfrm>
            <a:off x="6903720" y="29718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thème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9 profils</a:t>
            </a:r>
            <a:endParaRPr lang="en-US" sz="115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F6217EF4-7A5A-2C21-A068-D9846A07C06F}"/>
              </a:ext>
            </a:extLst>
          </p:cNvPr>
          <p:cNvSpPr/>
          <p:nvPr/>
        </p:nvSpPr>
        <p:spPr>
          <a:xfrm>
            <a:off x="9144000" y="3840480"/>
            <a:ext cx="457200" cy="0"/>
          </a:xfrm>
          <a:prstGeom prst="line">
            <a:avLst/>
          </a:prstGeom>
          <a:noFill/>
          <a:ln w="19050">
            <a:solidFill>
              <a:srgbClr val="C9C4BC"/>
            </a:solidFill>
            <a:prstDash val="dash"/>
          </a:ln>
        </p:spPr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9698FE1D-9B98-BA3D-2D9B-54D414FF877A}"/>
              </a:ext>
            </a:extLst>
          </p:cNvPr>
          <p:cNvSpPr/>
          <p:nvPr/>
        </p:nvSpPr>
        <p:spPr>
          <a:xfrm>
            <a:off x="9594669" y="2194558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DFDA"/>
            </a:solidFill>
            <a:prstDash val="solid"/>
          </a:ln>
          <a:effectLst>
            <a:outerShdw blurRad="76200" dist="25400" dir="5400000" algn="bl" rotWithShape="0">
              <a:srgbClr val="1C1C2E">
                <a:alpha val="10000"/>
              </a:srgbClr>
            </a:outerShdw>
          </a:effectLst>
        </p:spPr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B87EA522-B07F-8589-0C39-05BEC3483FDA}"/>
              </a:ext>
            </a:extLst>
          </p:cNvPr>
          <p:cNvSpPr/>
          <p:nvPr/>
        </p:nvSpPr>
        <p:spPr>
          <a:xfrm>
            <a:off x="9601200" y="21945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E05B2B"/>
          </a:solidFill>
          <a:ln/>
        </p:spPr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D060F51C-4DB3-1156-F5DF-2EC110C958F8}"/>
              </a:ext>
            </a:extLst>
          </p:cNvPr>
          <p:cNvSpPr/>
          <p:nvPr/>
        </p:nvSpPr>
        <p:spPr>
          <a:xfrm>
            <a:off x="9601200" y="2560320"/>
            <a:ext cx="2468880" cy="182880"/>
          </a:xfrm>
          <a:prstGeom prst="rect">
            <a:avLst/>
          </a:prstGeom>
          <a:solidFill>
            <a:srgbClr val="E05B2B"/>
          </a:solidFill>
          <a:ln/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90995FA4-453B-98D0-B7D8-2D69AB3B5EEA}"/>
              </a:ext>
            </a:extLst>
          </p:cNvPr>
          <p:cNvSpPr/>
          <p:nvPr/>
        </p:nvSpPr>
        <p:spPr>
          <a:xfrm>
            <a:off x="960120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</a:t>
            </a:r>
            <a:endParaRPr lang="en-US" sz="16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E305BF1F-A2F1-CB7B-068B-0C398FDF4CCD}"/>
              </a:ext>
            </a:extLst>
          </p:cNvPr>
          <p:cNvSpPr/>
          <p:nvPr/>
        </p:nvSpPr>
        <p:spPr>
          <a:xfrm>
            <a:off x="9829800" y="29718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accordéon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intégrée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86793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33A1D-DE02-1C5C-99AA-62FDF483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D3A412-1B0A-00CE-440B-E2A18446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b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b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Fonctionnalités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clés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JavaScript</a:t>
            </a:r>
            <a:br>
              <a:rPr lang="en-US" dirty="0"/>
            </a:b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7554EC-EB5A-54C3-46D6-664EAD601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/ Light mode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persistant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scroll (80px)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au scroll (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à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rebours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temps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animés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(chiffres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du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Cœur 4">
            <a:extLst>
              <a:ext uri="{FF2B5EF4-FFF2-40B4-BE49-F238E27FC236}">
                <a16:creationId xmlns:a16="http://schemas.microsoft.com/office/drawing/2014/main" id="{3F975CBE-A1A3-B2B7-715F-2CF32C7F15EB}"/>
              </a:ext>
            </a:extLst>
          </p:cNvPr>
          <p:cNvSpPr/>
          <p:nvPr/>
        </p:nvSpPr>
        <p:spPr>
          <a:xfrm>
            <a:off x="489857" y="1894114"/>
            <a:ext cx="250372" cy="261257"/>
          </a:xfrm>
          <a:prstGeom prst="hear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œur 6">
            <a:extLst>
              <a:ext uri="{FF2B5EF4-FFF2-40B4-BE49-F238E27FC236}">
                <a16:creationId xmlns:a16="http://schemas.microsoft.com/office/drawing/2014/main" id="{29807E46-807F-3B12-E9C0-1328F75E35C3}"/>
              </a:ext>
            </a:extLst>
          </p:cNvPr>
          <p:cNvSpPr/>
          <p:nvPr/>
        </p:nvSpPr>
        <p:spPr>
          <a:xfrm>
            <a:off x="489857" y="3461657"/>
            <a:ext cx="250372" cy="261257"/>
          </a:xfrm>
          <a:prstGeom prst="hear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Cœur 8">
            <a:extLst>
              <a:ext uri="{FF2B5EF4-FFF2-40B4-BE49-F238E27FC236}">
                <a16:creationId xmlns:a16="http://schemas.microsoft.com/office/drawing/2014/main" id="{34D10E00-A369-9797-33FB-46709A3E7D26}"/>
              </a:ext>
            </a:extLst>
          </p:cNvPr>
          <p:cNvSpPr/>
          <p:nvPr/>
        </p:nvSpPr>
        <p:spPr>
          <a:xfrm>
            <a:off x="500744" y="2428027"/>
            <a:ext cx="250372" cy="261257"/>
          </a:xfrm>
          <a:prstGeom prst="hear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Cœur 10">
            <a:extLst>
              <a:ext uri="{FF2B5EF4-FFF2-40B4-BE49-F238E27FC236}">
                <a16:creationId xmlns:a16="http://schemas.microsoft.com/office/drawing/2014/main" id="{985E1D1B-10DD-DE67-977D-CCA0BA1AFB7A}"/>
              </a:ext>
            </a:extLst>
          </p:cNvPr>
          <p:cNvSpPr/>
          <p:nvPr/>
        </p:nvSpPr>
        <p:spPr>
          <a:xfrm>
            <a:off x="489858" y="3986896"/>
            <a:ext cx="250372" cy="261257"/>
          </a:xfrm>
          <a:prstGeom prst="hear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Cœur 12">
            <a:extLst>
              <a:ext uri="{FF2B5EF4-FFF2-40B4-BE49-F238E27FC236}">
                <a16:creationId xmlns:a16="http://schemas.microsoft.com/office/drawing/2014/main" id="{553846D9-988A-0B0E-44EB-22918482E131}"/>
              </a:ext>
            </a:extLst>
          </p:cNvPr>
          <p:cNvSpPr/>
          <p:nvPr/>
        </p:nvSpPr>
        <p:spPr>
          <a:xfrm>
            <a:off x="487136" y="4461093"/>
            <a:ext cx="250372" cy="261257"/>
          </a:xfrm>
          <a:prstGeom prst="hear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Cœur 14">
            <a:extLst>
              <a:ext uri="{FF2B5EF4-FFF2-40B4-BE49-F238E27FC236}">
                <a16:creationId xmlns:a16="http://schemas.microsoft.com/office/drawing/2014/main" id="{DA38BA2E-B584-ED2F-4C8B-9E4AE417D004}"/>
              </a:ext>
            </a:extLst>
          </p:cNvPr>
          <p:cNvSpPr/>
          <p:nvPr/>
        </p:nvSpPr>
        <p:spPr>
          <a:xfrm>
            <a:off x="487136" y="4986332"/>
            <a:ext cx="250372" cy="261257"/>
          </a:xfrm>
          <a:prstGeom prst="hear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Cœur 15">
            <a:extLst>
              <a:ext uri="{FF2B5EF4-FFF2-40B4-BE49-F238E27FC236}">
                <a16:creationId xmlns:a16="http://schemas.microsoft.com/office/drawing/2014/main" id="{F5DC1621-3F3B-7C02-8E59-ACE1A2E813C2}"/>
              </a:ext>
            </a:extLst>
          </p:cNvPr>
          <p:cNvSpPr/>
          <p:nvPr/>
        </p:nvSpPr>
        <p:spPr>
          <a:xfrm>
            <a:off x="487136" y="5511571"/>
            <a:ext cx="250372" cy="261257"/>
          </a:xfrm>
          <a:prstGeom prst="hear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Cœur 16">
            <a:extLst>
              <a:ext uri="{FF2B5EF4-FFF2-40B4-BE49-F238E27FC236}">
                <a16:creationId xmlns:a16="http://schemas.microsoft.com/office/drawing/2014/main" id="{ED563DAA-CDA8-3DFF-D018-3D365848F6DE}"/>
              </a:ext>
            </a:extLst>
          </p:cNvPr>
          <p:cNvSpPr/>
          <p:nvPr/>
        </p:nvSpPr>
        <p:spPr>
          <a:xfrm>
            <a:off x="487136" y="2916347"/>
            <a:ext cx="250372" cy="261257"/>
          </a:xfrm>
          <a:prstGeom prst="hear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26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665E5-6964-537C-F14D-17160316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Aperçu du site</a:t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22E33C-26A9-2FFE-757B-B6995DB02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        </a:t>
            </a:r>
            <a:endParaRPr lang="fr-FR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F2E7977-4BD4-B7ED-BB2F-FF5837C45C70}"/>
              </a:ext>
            </a:extLst>
          </p:cNvPr>
          <p:cNvSpPr/>
          <p:nvPr/>
        </p:nvSpPr>
        <p:spPr>
          <a:xfrm>
            <a:off x="977537" y="1360710"/>
            <a:ext cx="9418320" cy="5290461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blurRad="177800" dist="50800" dir="5400000" algn="bl" rotWithShape="0">
              <a:srgbClr val="1C1C2E">
                <a:alpha val="18000"/>
              </a:srgbClr>
            </a:outerShdw>
          </a:effectLst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4BE6B0A-E662-B2E7-CF1B-DFDCDCC61BA6}"/>
              </a:ext>
            </a:extLst>
          </p:cNvPr>
          <p:cNvSpPr/>
          <p:nvPr/>
        </p:nvSpPr>
        <p:spPr>
          <a:xfrm>
            <a:off x="977537" y="1688260"/>
            <a:ext cx="9418320" cy="391886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5139E0A-5FDF-6D54-9DB1-50ACE50533C4}"/>
              </a:ext>
            </a:extLst>
          </p:cNvPr>
          <p:cNvSpPr/>
          <p:nvPr/>
        </p:nvSpPr>
        <p:spPr>
          <a:xfrm>
            <a:off x="2153475" y="1832936"/>
            <a:ext cx="131654" cy="127363"/>
          </a:xfrm>
          <a:prstGeom prst="ellipse">
            <a:avLst/>
          </a:prstGeom>
          <a:solidFill>
            <a:srgbClr val="E05B2B"/>
          </a:solidFill>
          <a:ln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62D5694F-0F51-2D10-5BD3-B4C2B032BE74}"/>
              </a:ext>
            </a:extLst>
          </p:cNvPr>
          <p:cNvSpPr/>
          <p:nvPr/>
        </p:nvSpPr>
        <p:spPr>
          <a:xfrm>
            <a:off x="2409507" y="1832936"/>
            <a:ext cx="131654" cy="127363"/>
          </a:xfrm>
          <a:prstGeom prst="ellipse">
            <a:avLst/>
          </a:prstGeom>
          <a:solidFill>
            <a:srgbClr val="F4A622"/>
          </a:solidFill>
          <a:ln/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0D676598-DE7B-FE78-40E9-81193BC46C80}"/>
              </a:ext>
            </a:extLst>
          </p:cNvPr>
          <p:cNvSpPr/>
          <p:nvPr/>
        </p:nvSpPr>
        <p:spPr>
          <a:xfrm>
            <a:off x="2665539" y="1832936"/>
            <a:ext cx="131654" cy="127363"/>
          </a:xfrm>
          <a:prstGeom prst="ellipse">
            <a:avLst/>
          </a:prstGeom>
          <a:solidFill>
            <a:srgbClr val="2E8C57"/>
          </a:solidFill>
          <a:ln/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68DFC58-038B-68A1-A4DA-E204B4BD361F}"/>
              </a:ext>
            </a:extLst>
          </p:cNvPr>
          <p:cNvSpPr/>
          <p:nvPr/>
        </p:nvSpPr>
        <p:spPr>
          <a:xfrm>
            <a:off x="977537" y="2035421"/>
            <a:ext cx="9418320" cy="1665516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2AF907D-C78F-1886-546F-A3B4F01B48CB}"/>
              </a:ext>
            </a:extLst>
          </p:cNvPr>
          <p:cNvSpPr/>
          <p:nvPr/>
        </p:nvSpPr>
        <p:spPr>
          <a:xfrm>
            <a:off x="1683985" y="2366553"/>
            <a:ext cx="6380152" cy="48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Trouvez le talent africain qu'il vous faut</a:t>
            </a:r>
            <a:endParaRPr lang="en-US" sz="15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B5111FC-C6A1-77DC-DD30-4933A5111BAC}"/>
              </a:ext>
            </a:extLst>
          </p:cNvPr>
          <p:cNvSpPr/>
          <p:nvPr/>
        </p:nvSpPr>
        <p:spPr>
          <a:xfrm>
            <a:off x="2146101" y="2921725"/>
            <a:ext cx="1620356" cy="391886"/>
          </a:xfrm>
          <a:prstGeom prst="roundRect">
            <a:avLst>
              <a:gd name="adj" fmla="val 15000"/>
            </a:avLst>
          </a:prstGeom>
          <a:solidFill>
            <a:srgbClr val="E05B2B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25C751FB-DF95-4DA7-4BAB-86FA4DB10C94}"/>
              </a:ext>
            </a:extLst>
          </p:cNvPr>
          <p:cNvSpPr/>
          <p:nvPr/>
        </p:nvSpPr>
        <p:spPr>
          <a:xfrm>
            <a:off x="2146101" y="2921725"/>
            <a:ext cx="1620356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</a:t>
            </a:r>
            <a:endParaRPr lang="en-US" sz="11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FD3E59B5-1C30-6D07-3591-BF428104265E}"/>
              </a:ext>
            </a:extLst>
          </p:cNvPr>
          <p:cNvSpPr/>
          <p:nvPr/>
        </p:nvSpPr>
        <p:spPr>
          <a:xfrm>
            <a:off x="2121520" y="3800202"/>
            <a:ext cx="1873537" cy="930729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DFDA"/>
            </a:solidFill>
            <a:prstDash val="solid"/>
          </a:ln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503ADCF-19A6-8CFB-A8DE-3040B922D4E5}"/>
              </a:ext>
            </a:extLst>
          </p:cNvPr>
          <p:cNvSpPr/>
          <p:nvPr/>
        </p:nvSpPr>
        <p:spPr>
          <a:xfrm>
            <a:off x="2121520" y="3921033"/>
            <a:ext cx="1873537" cy="48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5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1 200+</a:t>
            </a:r>
            <a:endParaRPr lang="en-US" sz="17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3BC78FB7-2BC9-1AE9-132F-E343CC32DD0C}"/>
              </a:ext>
            </a:extLst>
          </p:cNvPr>
          <p:cNvSpPr/>
          <p:nvPr/>
        </p:nvSpPr>
        <p:spPr>
          <a:xfrm>
            <a:off x="4041760" y="3800202"/>
            <a:ext cx="1873537" cy="930729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DFDA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B1DE85C-C46C-EB51-709C-460EAFD5116F}"/>
              </a:ext>
            </a:extLst>
          </p:cNvPr>
          <p:cNvSpPr/>
          <p:nvPr/>
        </p:nvSpPr>
        <p:spPr>
          <a:xfrm>
            <a:off x="4041760" y="3921033"/>
            <a:ext cx="1873537" cy="48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5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17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530DF467-E9A2-5381-9BEB-B7FC00084CA7}"/>
              </a:ext>
            </a:extLst>
          </p:cNvPr>
          <p:cNvSpPr/>
          <p:nvPr/>
        </p:nvSpPr>
        <p:spPr>
          <a:xfrm>
            <a:off x="5962000" y="3800202"/>
            <a:ext cx="1873537" cy="930729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DFDA"/>
            </a:solidFill>
            <a:prstDash val="solid"/>
          </a:ln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2F3532D6-1D7C-88C4-213B-2243983187C7}"/>
              </a:ext>
            </a:extLst>
          </p:cNvPr>
          <p:cNvSpPr/>
          <p:nvPr/>
        </p:nvSpPr>
        <p:spPr>
          <a:xfrm>
            <a:off x="5962000" y="3921033"/>
            <a:ext cx="1873537" cy="48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5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85A4ED9B-439B-9EF9-CE21-82091C9D321F}"/>
              </a:ext>
            </a:extLst>
          </p:cNvPr>
          <p:cNvSpPr/>
          <p:nvPr/>
        </p:nvSpPr>
        <p:spPr>
          <a:xfrm>
            <a:off x="7882240" y="3800202"/>
            <a:ext cx="1873537" cy="930729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DFDA"/>
            </a:solidFill>
            <a:prstDash val="solid"/>
          </a:ln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1FB3B79C-B06A-BC7E-79FB-AAF94AA1556E}"/>
              </a:ext>
            </a:extLst>
          </p:cNvPr>
          <p:cNvSpPr/>
          <p:nvPr/>
        </p:nvSpPr>
        <p:spPr>
          <a:xfrm>
            <a:off x="7882240" y="3921033"/>
            <a:ext cx="1873537" cy="48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5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70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C782CE45-F63D-1591-3779-5F42B92AF25D}"/>
              </a:ext>
            </a:extLst>
          </p:cNvPr>
          <p:cNvSpPr/>
          <p:nvPr/>
        </p:nvSpPr>
        <p:spPr>
          <a:xfrm>
            <a:off x="2047778" y="4952998"/>
            <a:ext cx="2633079" cy="1469573"/>
          </a:xfrm>
          <a:prstGeom prst="roundRect">
            <a:avLst>
              <a:gd name="adj" fmla="val 4000"/>
            </a:avLst>
          </a:prstGeom>
          <a:solidFill>
            <a:srgbClr val="F3F1EE"/>
          </a:solidFill>
          <a:ln/>
        </p:spPr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A28714D7-EE20-06FC-56C2-6CB142916D13}"/>
              </a:ext>
            </a:extLst>
          </p:cNvPr>
          <p:cNvSpPr/>
          <p:nvPr/>
        </p:nvSpPr>
        <p:spPr>
          <a:xfrm>
            <a:off x="2492688" y="5253445"/>
            <a:ext cx="405089" cy="391886"/>
          </a:xfrm>
          <a:prstGeom prst="ellipse">
            <a:avLst/>
          </a:prstGeom>
          <a:solidFill>
            <a:srgbClr val="F4A622"/>
          </a:solidFill>
          <a:ln/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A7C7AB1F-4617-004E-4C70-D6A536E75232}"/>
              </a:ext>
            </a:extLst>
          </p:cNvPr>
          <p:cNvSpPr/>
          <p:nvPr/>
        </p:nvSpPr>
        <p:spPr>
          <a:xfrm>
            <a:off x="2325540" y="5756365"/>
            <a:ext cx="2126717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FFFF831B-98C8-77ED-4A58-701BD907FC1C}"/>
              </a:ext>
            </a:extLst>
          </p:cNvPr>
          <p:cNvSpPr/>
          <p:nvPr/>
        </p:nvSpPr>
        <p:spPr>
          <a:xfrm>
            <a:off x="4653818" y="4952998"/>
            <a:ext cx="2633079" cy="1469573"/>
          </a:xfrm>
          <a:prstGeom prst="roundRect">
            <a:avLst>
              <a:gd name="adj" fmla="val 4000"/>
            </a:avLst>
          </a:prstGeom>
          <a:solidFill>
            <a:srgbClr val="F3F1EE"/>
          </a:solidFill>
          <a:ln/>
        </p:spPr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27245AF7-D91E-19CE-B7DC-A1D912A26880}"/>
              </a:ext>
            </a:extLst>
          </p:cNvPr>
          <p:cNvSpPr/>
          <p:nvPr/>
        </p:nvSpPr>
        <p:spPr>
          <a:xfrm>
            <a:off x="5098728" y="5253445"/>
            <a:ext cx="405089" cy="391886"/>
          </a:xfrm>
          <a:prstGeom prst="ellipse">
            <a:avLst/>
          </a:prstGeom>
          <a:solidFill>
            <a:srgbClr val="F4A622"/>
          </a:solidFill>
          <a:ln/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50BD1121-1D75-10D2-C7C6-3416D40852A1}"/>
              </a:ext>
            </a:extLst>
          </p:cNvPr>
          <p:cNvSpPr/>
          <p:nvPr/>
        </p:nvSpPr>
        <p:spPr>
          <a:xfrm>
            <a:off x="4931580" y="5756365"/>
            <a:ext cx="2126717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91EC5DB4-80FC-28AE-4491-7C2E40F51EAA}"/>
              </a:ext>
            </a:extLst>
          </p:cNvPr>
          <p:cNvSpPr/>
          <p:nvPr/>
        </p:nvSpPr>
        <p:spPr>
          <a:xfrm>
            <a:off x="7259858" y="4952998"/>
            <a:ext cx="2633079" cy="1469573"/>
          </a:xfrm>
          <a:prstGeom prst="roundRect">
            <a:avLst>
              <a:gd name="adj" fmla="val 4000"/>
            </a:avLst>
          </a:prstGeom>
          <a:solidFill>
            <a:srgbClr val="F3F1EE"/>
          </a:solidFill>
          <a:ln/>
        </p:spPr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0843E411-CD88-A5EE-27D7-886D465DCFB9}"/>
              </a:ext>
            </a:extLst>
          </p:cNvPr>
          <p:cNvSpPr/>
          <p:nvPr/>
        </p:nvSpPr>
        <p:spPr>
          <a:xfrm>
            <a:off x="7704768" y="5253445"/>
            <a:ext cx="405089" cy="391886"/>
          </a:xfrm>
          <a:prstGeom prst="ellipse">
            <a:avLst/>
          </a:prstGeom>
          <a:solidFill>
            <a:srgbClr val="F4A622"/>
          </a:solidFill>
          <a:ln/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ABA89B94-70C4-D570-6D4F-126125828A7E}"/>
              </a:ext>
            </a:extLst>
          </p:cNvPr>
          <p:cNvSpPr/>
          <p:nvPr/>
        </p:nvSpPr>
        <p:spPr>
          <a:xfrm>
            <a:off x="7537620" y="5756365"/>
            <a:ext cx="2126717" cy="39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32100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741F64-9EA1-C713-AB6A-5062077F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Difficultés</a:t>
            </a:r>
            <a:r>
              <a:rPr lang="en-US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dirty="0" err="1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rencontrées</a:t>
            </a:r>
            <a:r>
              <a:rPr lang="en-US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solutions</a:t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66F43F-0D90-21D8-601F-A2670D156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</a:t>
            </a:r>
            <a:endParaRPr lang="fr-FR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55A7897-2559-9F5A-8332-7E73806EACDF}"/>
              </a:ext>
            </a:extLst>
          </p:cNvPr>
          <p:cNvSpPr/>
          <p:nvPr/>
        </p:nvSpPr>
        <p:spPr>
          <a:xfrm>
            <a:off x="822960" y="2057400"/>
            <a:ext cx="10515600" cy="0"/>
          </a:xfrm>
          <a:prstGeom prst="line">
            <a:avLst/>
          </a:prstGeom>
          <a:noFill/>
          <a:ln w="12700">
            <a:solidFill>
              <a:srgbClr val="E2DFDA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B58AFBB-686A-4957-AEFF-4D5BA19E0C1E}"/>
              </a:ext>
            </a:extLst>
          </p:cNvPr>
          <p:cNvSpPr/>
          <p:nvPr/>
        </p:nvSpPr>
        <p:spPr>
          <a:xfrm>
            <a:off x="822960" y="2286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invisibles après le hero</a:t>
            </a:r>
            <a:endParaRPr lang="en-US" sz="12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079595C-C2CD-B651-C8C9-F5670A496985}"/>
              </a:ext>
            </a:extLst>
          </p:cNvPr>
          <p:cNvSpPr/>
          <p:nvPr/>
        </p:nvSpPr>
        <p:spPr>
          <a:xfrm>
            <a:off x="6309360" y="2286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chaque fonction JS dans un try/catch pour qu'une erreur (localStorage bloqué) n'arrête pas les autres</a:t>
            </a:r>
            <a:endParaRPr lang="en-US" sz="12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7554D420-E9E0-3571-8AD7-051F90602109}"/>
              </a:ext>
            </a:extLst>
          </p:cNvPr>
          <p:cNvSpPr/>
          <p:nvPr/>
        </p:nvSpPr>
        <p:spPr>
          <a:xfrm>
            <a:off x="822960" y="3154680"/>
            <a:ext cx="10515600" cy="0"/>
          </a:xfrm>
          <a:prstGeom prst="line">
            <a:avLst/>
          </a:prstGeom>
          <a:noFill/>
          <a:ln w="12700">
            <a:solidFill>
              <a:srgbClr val="F0EEE9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A394571-CCC8-173D-8878-48F302647853}"/>
              </a:ext>
            </a:extLst>
          </p:cNvPr>
          <p:cNvSpPr/>
          <p:nvPr/>
        </p:nvSpPr>
        <p:spPr>
          <a:xfrm>
            <a:off x="82296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blanc sur fond blanc</a:t>
            </a:r>
            <a:endParaRPr lang="en-US" sz="12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02565637-60C6-78C3-93CC-DE4DB7664397}"/>
              </a:ext>
            </a:extLst>
          </p:cNvPr>
          <p:cNvSpPr/>
          <p:nvPr/>
        </p:nvSpPr>
        <p:spPr>
          <a:xfrm>
            <a:off x="6309360" y="32918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la variable --text pour qu'elle reprenne --charcoal plutôt que du blanc</a:t>
            </a:r>
            <a:endParaRPr lang="en-US" sz="125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D84B71F2-AAAB-476F-199A-26CA2848CAC9}"/>
              </a:ext>
            </a:extLst>
          </p:cNvPr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12700">
            <a:solidFill>
              <a:srgbClr val="F0EEE9"/>
            </a:solidFill>
            <a:prstDash val="solid"/>
          </a:ln>
        </p:spPr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3387874A-76E3-E7FB-6E2D-198EFD565BFA}"/>
              </a:ext>
            </a:extLst>
          </p:cNvPr>
          <p:cNvSpPr/>
          <p:nvPr/>
        </p:nvSpPr>
        <p:spPr>
          <a:xfrm>
            <a:off x="822960" y="4297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non affichées sur une page</a:t>
            </a:r>
            <a:endParaRPr lang="en-US" sz="125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6434417-D10D-74A0-022F-8586255C0E0D}"/>
              </a:ext>
            </a:extLst>
          </p:cNvPr>
          <p:cNvSpPr/>
          <p:nvPr/>
        </p:nvSpPr>
        <p:spPr>
          <a:xfrm>
            <a:off x="6309360" y="4297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lien CDN Bootstrap Icons dans le &lt;head&gt; de chaque page</a:t>
            </a:r>
            <a:endParaRPr lang="en-US" sz="125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50281682-384D-F08A-A853-EAB3FDCF824B}"/>
              </a:ext>
            </a:extLst>
          </p:cNvPr>
          <p:cNvSpPr/>
          <p:nvPr/>
        </p:nvSpPr>
        <p:spPr>
          <a:xfrm>
            <a:off x="822960" y="5166360"/>
            <a:ext cx="10515600" cy="0"/>
          </a:xfrm>
          <a:prstGeom prst="line">
            <a:avLst/>
          </a:prstGeom>
          <a:noFill/>
          <a:ln w="12700">
            <a:solidFill>
              <a:srgbClr val="F0EEE9"/>
            </a:solidFill>
            <a:prstDash val="solid"/>
          </a:ln>
        </p:spPr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C3FF891A-B27C-04DC-688A-D88DEAA25781}"/>
              </a:ext>
            </a:extLst>
          </p:cNvPr>
          <p:cNvSpPr/>
          <p:nvPr/>
        </p:nvSpPr>
        <p:spPr>
          <a:xfrm>
            <a:off x="822960" y="5303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d'image cassés</a:t>
            </a:r>
            <a:endParaRPr lang="en-US" sz="125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4A673291-822A-DDF5-2A63-DA4DED4F5FEA}"/>
              </a:ext>
            </a:extLst>
          </p:cNvPr>
          <p:cNvSpPr/>
          <p:nvPr/>
        </p:nvSpPr>
        <p:spPr>
          <a:xfrm>
            <a:off x="6309360" y="5303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chemins relatifs (images/photo.jpg) plutôt qu'un chemin absolu Windows</a:t>
            </a:r>
            <a:endParaRPr lang="en-US" sz="125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1C2A2D0F-F465-9171-79A0-B665AAAACB6B}"/>
              </a:ext>
            </a:extLst>
          </p:cNvPr>
          <p:cNvSpPr/>
          <p:nvPr/>
        </p:nvSpPr>
        <p:spPr>
          <a:xfrm>
            <a:off x="822960" y="6172200"/>
            <a:ext cx="10515600" cy="0"/>
          </a:xfrm>
          <a:prstGeom prst="line">
            <a:avLst/>
          </a:prstGeom>
          <a:noFill/>
          <a:ln w="12700">
            <a:solidFill>
              <a:srgbClr val="F0EEE9"/>
            </a:solidFill>
            <a:prstDash val="solid"/>
          </a:ln>
        </p:spPr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B945181-FD6B-8B95-05F4-948055347990}"/>
              </a:ext>
            </a:extLst>
          </p:cNvPr>
          <p:cNvSpPr txBox="1"/>
          <p:nvPr/>
        </p:nvSpPr>
        <p:spPr>
          <a:xfrm>
            <a:off x="822960" y="1524000"/>
            <a:ext cx="2268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PROBLEME</a:t>
            </a:r>
            <a:endParaRPr lang="fr-FR" sz="2000" dirty="0">
              <a:solidFill>
                <a:srgbClr val="FF0000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857C0BC-1B3C-D0DC-E0C1-9207D9C05ED5}"/>
              </a:ext>
            </a:extLst>
          </p:cNvPr>
          <p:cNvSpPr txBox="1"/>
          <p:nvPr/>
        </p:nvSpPr>
        <p:spPr>
          <a:xfrm>
            <a:off x="6347460" y="1459064"/>
            <a:ext cx="2410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SOLUTION</a:t>
            </a:r>
            <a:r>
              <a:rPr lang="en-US" dirty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456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E07C02-A2B8-FF36-C24B-4CD2DA6C8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7926A-9C3B-2CFD-C21A-521F34CB3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5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vitrine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responsive et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interactif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des technologies simples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façon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rigoureuse</a:t>
            </a:r>
            <a:r>
              <a:rPr lang="en-US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b="1" dirty="0">
                <a:solidFill>
                  <a:srgbClr val="F4A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</a:t>
            </a: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photos et le </a:t>
            </a: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fictif</a:t>
            </a: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du </a:t>
            </a: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</a:t>
            </a: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</a:t>
            </a: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</a:t>
            </a: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back-end pour le </a:t>
            </a: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d'inscription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</a:t>
            </a:r>
            <a:r>
              <a:rPr lang="en-US" dirty="0" err="1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</a:t>
            </a:r>
            <a:r>
              <a:rPr lang="en-US" dirty="0">
                <a:solidFill>
                  <a:srgbClr val="E4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(français / anglais)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Hexagone 4">
            <a:extLst>
              <a:ext uri="{FF2B5EF4-FFF2-40B4-BE49-F238E27FC236}">
                <a16:creationId xmlns:a16="http://schemas.microsoft.com/office/drawing/2014/main" id="{356CC2A6-105E-B3F2-7DB3-9C9CFB05CD1E}"/>
              </a:ext>
            </a:extLst>
          </p:cNvPr>
          <p:cNvSpPr/>
          <p:nvPr/>
        </p:nvSpPr>
        <p:spPr>
          <a:xfrm>
            <a:off x="-374573" y="5585552"/>
            <a:ext cx="2666081" cy="2049137"/>
          </a:xfrm>
          <a:prstGeom prst="hexag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BC535EA-943B-CB85-F13B-6CA3BA6BDAB6}"/>
              </a:ext>
            </a:extLst>
          </p:cNvPr>
          <p:cNvSpPr txBox="1"/>
          <p:nvPr/>
        </p:nvSpPr>
        <p:spPr>
          <a:xfrm>
            <a:off x="694063" y="6169446"/>
            <a:ext cx="58169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Merci de </a:t>
            </a:r>
            <a:r>
              <a:rPr lang="en-US" sz="28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attention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53760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402</Words>
  <Application>Microsoft Office PowerPoint</Application>
  <PresentationFormat>Grand écran</PresentationFormat>
  <Paragraphs>142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Thème Office</vt:lpstr>
      <vt:lpstr>SITE VITRINE MULTIPAGE</vt:lpstr>
      <vt:lpstr>SOMMAIRE</vt:lpstr>
      <vt:lpstr>Objectifs du project</vt:lpstr>
      <vt:lpstr> Technologie utilisees</vt:lpstr>
      <vt:lpstr>Structure du sites</vt:lpstr>
      <vt:lpstr>  Fonctionnalités clés en JavaScript   </vt:lpstr>
      <vt:lpstr>Aperçu du site </vt:lpstr>
      <vt:lpstr>Difficultés rencontrées &amp; solutions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khadija SYLLA</dc:creator>
  <cp:lastModifiedBy>khadija SYLLA</cp:lastModifiedBy>
  <cp:revision>2</cp:revision>
  <dcterms:created xsi:type="dcterms:W3CDTF">2026-07-19T13:54:25Z</dcterms:created>
  <dcterms:modified xsi:type="dcterms:W3CDTF">2026-07-19T18:48:42Z</dcterms:modified>
</cp:coreProperties>
</file>